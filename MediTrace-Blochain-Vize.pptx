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Arimo" panose="020B0604020202020204" charset="0"/>
      <p:regular r:id="rId12"/>
      <p:bold r:id="rId13"/>
      <p:italic r:id="rId14"/>
      <p:boldItalic r:id="rId15"/>
    </p:embeddedFont>
    <p:embeddedFont>
      <p:font typeface="Azeret Mono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664" y="381000"/>
            <a:ext cx="11430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56195" y="2594967"/>
            <a:ext cx="1121358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MediTrace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756195" y="3753147"/>
            <a:ext cx="1067960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"</a:t>
            </a:r>
            <a:r>
              <a:rPr lang="en-US" sz="1800" b="0" i="1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Aldığınız</a:t>
            </a:r>
            <a:r>
              <a:rPr lang="en-US" sz="1800" b="0" i="1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1800" b="0" i="1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ilaç</a:t>
            </a:r>
            <a:r>
              <a:rPr lang="en-US" sz="1800" b="0" i="1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, </a:t>
            </a:r>
            <a:r>
              <a:rPr lang="en-US" sz="1800" b="0" i="1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gerçekten</a:t>
            </a:r>
            <a:r>
              <a:rPr lang="en-US" sz="1800" b="0" i="1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o </a:t>
            </a:r>
            <a:r>
              <a:rPr lang="en-US" sz="1800" b="0" i="1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ilaç</a:t>
            </a:r>
            <a:r>
              <a:rPr lang="en-US" sz="1800" b="0" i="1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1800" b="0" i="1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mı</a:t>
            </a:r>
            <a:r>
              <a:rPr lang="en-US" sz="1800" b="0" i="1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?"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56195" y="4301728"/>
            <a:ext cx="1067960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Blockchain Tabanlı Güvenli İlaç Tedarik Zinciri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56195" y="4764583"/>
            <a:ext cx="10679608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Hazırlayan</a:t>
            </a:r>
            <a:r>
              <a:rPr lang="en-US" sz="1350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tr-TR" sz="1350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Abdulkadir Karabağ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756195" y="5210323"/>
            <a:ext cx="10679608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Ders: Blockchain </a:t>
            </a:r>
            <a:r>
              <a:rPr lang="en-US" sz="1350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Vize</a:t>
            </a:r>
            <a:r>
              <a:rPr lang="en-US" sz="1350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350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Projesi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756195" y="5656064"/>
            <a:ext cx="10679608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Tarih: 18 Kasım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381000" y="91826"/>
            <a:ext cx="584073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Projenin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Amacı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ve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Motivasyonu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714375" y="3508623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Tüketici Güveni: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Hastaya, elindeki ilacın üreticiden eczaneye kadar olan tüm yolculuğunu saniyeler içinde, %100 şeffaf bir şekilde görme imkanı sunmak.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14375" y="4594473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Sahteciliği Engellemek: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Tedarik zincirine dışarıdan sahte ilaç girmesini kriptografik olarak imkansız hale getirerek halk sağlığını doğrudan korumak.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14375" y="5680323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Güvenilirliği Artırmak: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İlaç firmalarının ve sağlık otoritelerinin (Bakanlık) itibarını sahteciliğe karşı korumak ve denetim süreçlerini dijitalleştirmek.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1524000"/>
            <a:ext cx="5562600" cy="37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565773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65162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5737473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93FC3325-DB46-A377-98F0-9AB2F450D44F}"/>
              </a:ext>
            </a:extLst>
          </p:cNvPr>
          <p:cNvSpPr txBox="1"/>
          <p:nvPr/>
        </p:nvSpPr>
        <p:spPr>
          <a:xfrm>
            <a:off x="600075" y="1618772"/>
            <a:ext cx="47391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0" i="0">
                <a:solidFill>
                  <a:srgbClr val="3C4043"/>
                </a:solidFill>
                <a:effectLst/>
                <a:latin typeface="Arimo" panose="020B0604020202020204" charset="0"/>
              </a:rPr>
              <a:t>Bu projenin temel motivasyonu, küresel bir sağlık krizine teknolojik bir çözüm önermektir. Dünya Sağlık Örgütü (WHO) verilerine göre, dolaşımdaki ilaçların yaklaşık </a:t>
            </a:r>
            <a:r>
              <a:rPr lang="tr-TR" sz="1600" b="1" i="0">
                <a:solidFill>
                  <a:srgbClr val="3C4043"/>
                </a:solidFill>
                <a:effectLst/>
                <a:latin typeface="Arimo" panose="020B0604020202020204" charset="0"/>
              </a:rPr>
              <a:t>%10'u sahte</a:t>
            </a:r>
            <a:r>
              <a:rPr lang="tr-TR" sz="1600" b="0" i="0">
                <a:solidFill>
                  <a:srgbClr val="3C4043"/>
                </a:solidFill>
                <a:effectLst/>
                <a:latin typeface="Arimo" panose="020B0604020202020204" charset="0"/>
              </a:rPr>
              <a:t> veya standart dışı. Bu durum, yılda </a:t>
            </a:r>
            <a:r>
              <a:rPr lang="tr-TR" sz="1600" b="1" i="0">
                <a:solidFill>
                  <a:srgbClr val="3C4043"/>
                </a:solidFill>
                <a:effectLst/>
                <a:latin typeface="Arimo" panose="020B0604020202020204" charset="0"/>
              </a:rPr>
              <a:t>1 milyondan fazla insanın</a:t>
            </a:r>
            <a:r>
              <a:rPr lang="tr-TR" sz="1600" b="0" i="0">
                <a:solidFill>
                  <a:srgbClr val="3C4043"/>
                </a:solidFill>
                <a:effectLst/>
                <a:latin typeface="Arimo" panose="020B0604020202020204" charset="0"/>
              </a:rPr>
              <a:t> ölümüne ve </a:t>
            </a:r>
            <a:r>
              <a:rPr lang="tr-TR" sz="1600" b="1" i="0">
                <a:solidFill>
                  <a:srgbClr val="3C4043"/>
                </a:solidFill>
                <a:effectLst/>
                <a:latin typeface="Arimo" panose="020B0604020202020204" charset="0"/>
              </a:rPr>
              <a:t>200 Milyar Dolarlık</a:t>
            </a:r>
            <a:r>
              <a:rPr lang="tr-TR" sz="1600" b="0" i="0">
                <a:solidFill>
                  <a:srgbClr val="3C4043"/>
                </a:solidFill>
                <a:effectLst/>
                <a:latin typeface="Arimo" panose="020B0604020202020204" charset="0"/>
              </a:rPr>
              <a:t> devasa bir ekonomik kayba yol açıyor.</a:t>
            </a:r>
            <a:endParaRPr lang="tr-T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2715577" y="2731740"/>
            <a:ext cx="6760845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Projenin</a:t>
            </a:r>
            <a:r>
              <a:rPr lang="en-US" sz="48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48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Kapsamı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2876550" y="3615630"/>
            <a:ext cx="6438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25252"/>
                </a:solidFill>
                <a:latin typeface="Arimo"/>
                <a:ea typeface="Arimo"/>
                <a:cs typeface="Arimo"/>
                <a:sym typeface="Arimo"/>
              </a:rPr>
              <a:t>Üretimden Tüketime 'Değiştirilemez' Bir Kayıt Zinciri Oluşturmak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234380"/>
            <a:ext cx="3708350" cy="5242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1750" y="1234380"/>
            <a:ext cx="3708350" cy="5242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02500" y="1234380"/>
            <a:ext cx="3708499" cy="5242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325" y="154870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6075" y="154870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6825" y="154870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381000" y="381000"/>
            <a:ext cx="11811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Hedef Pazar (Sistem Paydaşları)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95325" y="2547687"/>
            <a:ext cx="3860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Hastalar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ve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Aileleri</a:t>
            </a:r>
            <a:endParaRPr sz="200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4556075" y="2615505"/>
            <a:ext cx="323368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İlaç</a:t>
            </a:r>
            <a:r>
              <a:rPr lang="en-US" sz="21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21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Üreticileri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8416825" y="2615505"/>
            <a:ext cx="37751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Devlet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ve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Regülatörler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(</a:t>
            </a:r>
            <a:r>
              <a:rPr lang="en-US" sz="20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Sağlık</a:t>
            </a:r>
            <a:r>
              <a:rPr lang="en-US" sz="20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B.)</a:t>
            </a:r>
            <a:endParaRPr sz="2000" dirty="0"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5825" y="1763017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5625" y="176301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45425" y="1763017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288822" y="94653"/>
            <a:ext cx="1161435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Uygulanabilirlik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(</a:t>
            </a: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Neden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Blockchain?)</a:t>
            </a:r>
            <a:endParaRPr dirty="0"/>
          </a:p>
        </p:txBody>
      </p:sp>
      <p:sp>
        <p:nvSpPr>
          <p:cNvPr id="133" name="Google Shape;133;p17"/>
          <p:cNvSpPr txBox="1"/>
          <p:nvPr/>
        </p:nvSpPr>
        <p:spPr>
          <a:xfrm>
            <a:off x="380999" y="2681962"/>
            <a:ext cx="5562600" cy="608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Blockchain'in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özellikle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bu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proje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için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ideal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olan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özel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'permissioned'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zincirin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)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sunduğu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garantiler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ise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şunlardır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endParaRPr dirty="0"/>
          </a:p>
        </p:txBody>
      </p:sp>
      <p:sp>
        <p:nvSpPr>
          <p:cNvPr id="134" name="Google Shape;134;p17"/>
          <p:cNvSpPr txBox="1"/>
          <p:nvPr/>
        </p:nvSpPr>
        <p:spPr>
          <a:xfrm>
            <a:off x="714373" y="3500367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Değişmezlik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(Immutability):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Zincire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eklenen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"Blok 1: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İlaç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Üretildi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"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kaydı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kriptografik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olarak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mühürlenir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 Bu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kayıt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ASLA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silinemez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veya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geriye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dönük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değiştirilemez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714372" y="4628393"/>
            <a:ext cx="5381628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Dağıtık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Şeffaflık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(Transparency):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Veritabanının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tek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sahibi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yoktur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Zincirin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kopyası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tüm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yetkili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paydaşlarda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Üretici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Bakanlık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Depo)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bulunur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Herkes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aynı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'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tek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gerçeğe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'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bakar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714372" y="5732117"/>
            <a:ext cx="6089551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Aracısız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Güven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(Trustless):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Hastanın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ilacın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orijinal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olduğunu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bilmek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için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şirketin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veritabanına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veya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aracı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kuruma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"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inanmasına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"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gerek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kalmaz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Güven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kodun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mimarinin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kendisindedir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1028700"/>
            <a:ext cx="55626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655516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741366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6112966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89114959-83D5-53E4-79DF-DA08C950BAB5}"/>
              </a:ext>
            </a:extLst>
          </p:cNvPr>
          <p:cNvSpPr txBox="1"/>
          <p:nvPr/>
        </p:nvSpPr>
        <p:spPr>
          <a:xfrm>
            <a:off x="288822" y="1032609"/>
            <a:ext cx="5562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b="0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Bu projedeki kilit soru 'Neden </a:t>
            </a:r>
            <a:r>
              <a:rPr lang="tr-TR" sz="1600" b="0" i="0" dirty="0" err="1">
                <a:solidFill>
                  <a:srgbClr val="3C4043"/>
                </a:solidFill>
                <a:effectLst/>
                <a:latin typeface="Arimo" panose="020B0604020202020204" charset="0"/>
              </a:rPr>
              <a:t>Blockchain</a:t>
            </a:r>
            <a:r>
              <a:rPr lang="tr-TR" sz="1600" b="0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?' sorusudur. Geleneksel, merkezi bir </a:t>
            </a:r>
            <a:r>
              <a:rPr lang="tr-TR" sz="1600" b="0" i="0" dirty="0" err="1">
                <a:solidFill>
                  <a:srgbClr val="3C4043"/>
                </a:solidFill>
                <a:effectLst/>
                <a:latin typeface="Arimo" panose="020B0604020202020204" charset="0"/>
              </a:rPr>
              <a:t>veritabanı</a:t>
            </a:r>
            <a:r>
              <a:rPr lang="tr-TR" sz="1600" b="0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 (SQL vb.) kullanılabilirdi, ANCAK bu sistemler 'admin' tarafından yönetilir. Kötü niyetli bir admin veya </a:t>
            </a:r>
            <a:r>
              <a:rPr lang="tr-TR" sz="1600" dirty="0">
                <a:solidFill>
                  <a:srgbClr val="3C4043"/>
                </a:solidFill>
                <a:latin typeface="Arimo" panose="020B0604020202020204" charset="0"/>
              </a:rPr>
              <a:t>bir hacker, </a:t>
            </a:r>
            <a:r>
              <a:rPr lang="tr-TR" sz="1600" b="0" i="0" dirty="0" err="1">
                <a:solidFill>
                  <a:srgbClr val="3C4043"/>
                </a:solidFill>
                <a:effectLst/>
                <a:latin typeface="Arimo" panose="020B0604020202020204" charset="0"/>
              </a:rPr>
              <a:t>veritabanındaki</a:t>
            </a:r>
            <a:r>
              <a:rPr lang="tr-TR" sz="1600" b="0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 kayıtları silebilir, değiştirebilir veya manipüle edebilir. </a:t>
            </a:r>
            <a:r>
              <a:rPr lang="tr-TR" sz="1600" b="1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Güven sorunu çözülmez, sadece ertelenir.</a:t>
            </a:r>
            <a:endParaRPr lang="tr-TR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1234380"/>
            <a:ext cx="3708350" cy="5242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1750" y="1234380"/>
            <a:ext cx="3708350" cy="5242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02351" y="1234380"/>
            <a:ext cx="3708499" cy="5242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325" y="154870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6075" y="154870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6825" y="154870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475919" y="267211"/>
            <a:ext cx="11240012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MVP </a:t>
            </a:r>
            <a:r>
              <a:rPr lang="en-US" sz="32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Akış</a:t>
            </a:r>
            <a:r>
              <a:rPr lang="en-US" sz="32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32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Diyagramı</a:t>
            </a:r>
            <a:r>
              <a:rPr lang="en-US" sz="32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(</a:t>
            </a:r>
            <a:r>
              <a:rPr lang="en-US" sz="32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Sistem</a:t>
            </a:r>
            <a:r>
              <a:rPr lang="en-US" sz="32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32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Nasıl</a:t>
            </a:r>
            <a:r>
              <a:rPr lang="en-US" sz="32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32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Çalışır</a:t>
            </a:r>
            <a:r>
              <a:rPr lang="en-US" sz="32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?)</a:t>
            </a:r>
            <a:endParaRPr sz="3200" dirty="0"/>
          </a:p>
        </p:txBody>
      </p:sp>
      <p:sp>
        <p:nvSpPr>
          <p:cNvPr id="152" name="Google Shape;152;p18"/>
          <p:cNvSpPr txBox="1"/>
          <p:nvPr/>
        </p:nvSpPr>
        <p:spPr>
          <a:xfrm>
            <a:off x="695325" y="2615505"/>
            <a:ext cx="323368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Adım 1: Üretici (Blok 1)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4556075" y="2615505"/>
            <a:ext cx="323368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Adım 2: Lojistik (Blok 2, 3...N)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416825" y="2615505"/>
            <a:ext cx="3233841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Adım 3: Eczane / Hasta (Doğrulama)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" y="176301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46575" y="1763017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64475" y="1763017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/>
        </p:nvSpPr>
        <p:spPr>
          <a:xfrm>
            <a:off x="381000" y="132510"/>
            <a:ext cx="1026733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Tokenomics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(</a:t>
            </a: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Sistem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Ekonomisi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: TRC </a:t>
            </a: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Jetonu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)</a:t>
            </a:r>
            <a:endParaRPr dirty="0"/>
          </a:p>
        </p:txBody>
      </p:sp>
      <p:sp>
        <p:nvSpPr>
          <p:cNvPr id="164" name="Google Shape;164;p19"/>
          <p:cNvSpPr txBox="1"/>
          <p:nvPr/>
        </p:nvSpPr>
        <p:spPr>
          <a:xfrm>
            <a:off x="381000" y="2403127"/>
            <a:ext cx="5562600" cy="1216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6" b="0" i="0" u="none" strike="noStrike" cap="non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TRC, sistemin çalışması için gereken "yakıttır" (Gas Fee). Zincire her yeni kayıt ekleme işlemi (bir 'transaction'), bir maliyet gerektirir. Bu, ağın spam saldırılarına uğramasını engeller ve doğrulayıcıları (validator) ödüllendirir.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381000" y="5562451"/>
            <a:ext cx="6354097" cy="11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6" b="1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Sürdürülebilirlik</a:t>
            </a:r>
            <a:r>
              <a:rPr lang="en-US" sz="1596" b="1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1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Modeli</a:t>
            </a:r>
            <a:r>
              <a:rPr lang="en-US" sz="1596" b="1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Bu '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kullandıkça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öde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'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modeli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sayesinde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sistem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dışarıdan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yatırıma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veya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fona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ihtiyaç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duymadan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kendi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sunucu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bakım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ağ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doğrulayıcı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masraflarını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karşılar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hale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gelir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714375" y="3809851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İlaç Firmaları: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Ürettikleri her yeni ilacı (Blok 1) zincire kaydetmek için (işlem ücreti olarak) sembolik bir miktar, örneğin 1 TRC öder.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14375" y="4895701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Lojistik Firmaları: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Yaptıkları her transfer kaydı (Blok 2, 3...) için daha düşük bir miktar, örneğin 0.1 TRC öder.</a:t>
            </a:r>
            <a:endParaRPr/>
          </a:p>
        </p:txBody>
      </p:sp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867001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4952851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Dijital fayda jetonu (utility token) konsepti">
            <a:extLst>
              <a:ext uri="{FF2B5EF4-FFF2-40B4-BE49-F238E27FC236}">
                <a16:creationId xmlns:a16="http://schemas.microsoft.com/office/drawing/2014/main" id="{A6735436-FCAB-429E-605D-2A4F7220D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75" y="1983965"/>
            <a:ext cx="5522425" cy="289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F996AD47-C96A-E66A-9813-DBBDA32C2E93}"/>
              </a:ext>
            </a:extLst>
          </p:cNvPr>
          <p:cNvSpPr txBox="1"/>
          <p:nvPr/>
        </p:nvSpPr>
        <p:spPr>
          <a:xfrm>
            <a:off x="273383" y="1599056"/>
            <a:ext cx="5172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>
                <a:solidFill>
                  <a:srgbClr val="3C4043"/>
                </a:solidFill>
                <a:latin typeface="Arimo" panose="020B0604020202020204" charset="0"/>
              </a:rPr>
              <a:t>P</a:t>
            </a:r>
            <a:r>
              <a:rPr lang="tr-TR" sz="1600" b="0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roje kapsamında, derste de belirtildiği gibi, spekülatif bir 'kripto para' ÖNERMİYORUZ. Buradaki '</a:t>
            </a:r>
            <a:r>
              <a:rPr lang="tr-TR" sz="1600" b="0" i="0" dirty="0" err="1">
                <a:solidFill>
                  <a:srgbClr val="3C4043"/>
                </a:solidFill>
                <a:effectLst/>
                <a:latin typeface="Arimo" panose="020B0604020202020204" charset="0"/>
              </a:rPr>
              <a:t>Trace</a:t>
            </a:r>
            <a:r>
              <a:rPr lang="tr-TR" sz="1600" b="0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' (TRC), bir </a:t>
            </a:r>
            <a:r>
              <a:rPr lang="tr-TR" sz="1600" b="1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Fayda </a:t>
            </a:r>
            <a:r>
              <a:rPr lang="tr-TR" sz="1600" b="1" i="0" dirty="0" err="1">
                <a:solidFill>
                  <a:srgbClr val="3C4043"/>
                </a:solidFill>
                <a:effectLst/>
                <a:latin typeface="Arimo" panose="020B0604020202020204" charset="0"/>
              </a:rPr>
              <a:t>Jetonu'dur</a:t>
            </a:r>
            <a:r>
              <a:rPr lang="tr-TR" sz="1600" b="1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 (</a:t>
            </a:r>
            <a:r>
              <a:rPr lang="tr-TR" sz="1600" b="1" i="0" dirty="0" err="1">
                <a:solidFill>
                  <a:srgbClr val="3C4043"/>
                </a:solidFill>
                <a:effectLst/>
                <a:latin typeface="Arimo" panose="020B0604020202020204" charset="0"/>
              </a:rPr>
              <a:t>Utility</a:t>
            </a:r>
            <a:r>
              <a:rPr lang="tr-TR" sz="1600" b="1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 </a:t>
            </a:r>
            <a:r>
              <a:rPr lang="tr-TR" sz="1600" b="1" i="0" dirty="0" err="1">
                <a:solidFill>
                  <a:srgbClr val="3C4043"/>
                </a:solidFill>
                <a:effectLst/>
                <a:latin typeface="Arimo" panose="020B0604020202020204" charset="0"/>
              </a:rPr>
              <a:t>Token</a:t>
            </a:r>
            <a:r>
              <a:rPr lang="tr-TR" sz="1600" b="1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)</a:t>
            </a:r>
            <a:r>
              <a:rPr lang="tr-TR" sz="1600" b="0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.</a:t>
            </a:r>
            <a:endParaRPr lang="tr-TR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/>
        </p:nvSpPr>
        <p:spPr>
          <a:xfrm>
            <a:off x="381000" y="335160"/>
            <a:ext cx="584073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Proje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r>
              <a:rPr lang="en-US" sz="3600" b="0" i="0" u="none" strike="noStrike" cap="none" dirty="0" err="1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Hedefi</a:t>
            </a:r>
            <a:r>
              <a:rPr lang="en-US" sz="3600" b="0" i="0" u="none" strike="noStrike" cap="none" dirty="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 (POC)</a:t>
            </a:r>
            <a:endParaRPr dirty="0"/>
          </a:p>
        </p:txBody>
      </p:sp>
      <p:sp>
        <p:nvSpPr>
          <p:cNvPr id="177" name="Google Shape;177;p20"/>
          <p:cNvSpPr txBox="1"/>
          <p:nvPr/>
        </p:nvSpPr>
        <p:spPr>
          <a:xfrm>
            <a:off x="381000" y="5610820"/>
            <a:ext cx="5562600" cy="110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MediTrace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teknoloji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projesinden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fazlasıdır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;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eczane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rafındaki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"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şüpheyi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"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ortadan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kaldırarak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hayat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kurtarmayı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hedefleyen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güven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96" b="0" i="0" u="none" strike="noStrike" cap="none" dirty="0" err="1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mimarisidir</a:t>
            </a:r>
            <a:r>
              <a:rPr lang="en-US" sz="1596" b="0" i="0" u="none" strike="noStrike" cap="none" dirty="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178" name="Google Shape;178;p20"/>
          <p:cNvSpPr txBox="1"/>
          <p:nvPr/>
        </p:nvSpPr>
        <p:spPr>
          <a:xfrm>
            <a:off x="714375" y="3143845"/>
            <a:ext cx="52292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Spesifik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Pilot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Hedef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Tek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ilaç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firmasıyla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örn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tr-TR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Medicana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)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anlaşarak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sadece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tek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kritik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pahalı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ilaç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örn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kanser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ilacı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)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üzerinde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kapalı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pilot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uygulama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00" b="0" i="0" u="none" strike="noStrike" cap="none" dirty="0" err="1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başlatmak</a:t>
            </a:r>
            <a:r>
              <a:rPr lang="en-US" sz="1500" b="0" i="0" u="none" strike="noStrike" cap="none" dirty="0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dirty="0"/>
          </a:p>
        </p:txBody>
      </p:sp>
      <p:sp>
        <p:nvSpPr>
          <p:cNvPr id="179" name="Google Shape;179;p20"/>
          <p:cNvSpPr txBox="1"/>
          <p:nvPr/>
        </p:nvSpPr>
        <p:spPr>
          <a:xfrm>
            <a:off x="714375" y="4229695"/>
            <a:ext cx="52292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Başarı Metriği (KPI):</a:t>
            </a:r>
            <a:r>
              <a:rPr lang="en-US" sz="1500" b="0" i="0" u="none" strike="noStrike" cap="none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 6 aylık bir deneme süresi içinde, belirlenen 10.000 adet kritik ilacın %100'ünün tedarik zincirinde hatasız, kesintisiz ve tam olarak takip edildiğini kanıtlamak.</a:t>
            </a:r>
            <a:endParaRPr/>
          </a:p>
        </p:txBody>
      </p:sp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8400" y="1524000"/>
            <a:ext cx="5562600" cy="3192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20099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428684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4DF0834B-F9A9-8141-9AB4-B0A841A06D53}"/>
              </a:ext>
            </a:extLst>
          </p:cNvPr>
          <p:cNvSpPr txBox="1"/>
          <p:nvPr/>
        </p:nvSpPr>
        <p:spPr>
          <a:xfrm>
            <a:off x="486082" y="1709886"/>
            <a:ext cx="54673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600" dirty="0">
                <a:solidFill>
                  <a:srgbClr val="3C4043"/>
                </a:solidFill>
                <a:latin typeface="Arimo" panose="020B0604020202020204" charset="0"/>
              </a:rPr>
              <a:t>B</a:t>
            </a:r>
            <a:r>
              <a:rPr lang="tr-TR" sz="1600" b="0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u projenin ilk adımı tüm ilaç sektörünü değiştirmek değil, bir </a:t>
            </a:r>
            <a:r>
              <a:rPr lang="tr-TR" sz="1600" b="1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Kavram Kanıtı (</a:t>
            </a:r>
            <a:r>
              <a:rPr lang="tr-TR" sz="1600" b="1" i="0" dirty="0" err="1">
                <a:solidFill>
                  <a:srgbClr val="3C4043"/>
                </a:solidFill>
                <a:effectLst/>
                <a:latin typeface="Arimo" panose="020B0604020202020204" charset="0"/>
              </a:rPr>
              <a:t>Proof</a:t>
            </a:r>
            <a:r>
              <a:rPr lang="tr-TR" sz="1600" b="1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 of </a:t>
            </a:r>
            <a:r>
              <a:rPr lang="tr-TR" sz="1600" b="1" i="0" dirty="0" err="1">
                <a:solidFill>
                  <a:srgbClr val="3C4043"/>
                </a:solidFill>
                <a:effectLst/>
                <a:latin typeface="Arimo" panose="020B0604020202020204" charset="0"/>
              </a:rPr>
              <a:t>Concept</a:t>
            </a:r>
            <a:r>
              <a:rPr lang="tr-TR" sz="1600" b="1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)</a:t>
            </a:r>
            <a:r>
              <a:rPr lang="tr-TR" sz="1600" b="0" i="0" dirty="0">
                <a:solidFill>
                  <a:srgbClr val="3C4043"/>
                </a:solidFill>
                <a:effectLst/>
                <a:latin typeface="Arimo" panose="020B0604020202020204" charset="0"/>
              </a:rPr>
              <a:t> uygulamasıyla modelin teknik olarak çalışır ve verimli olduğunu göstermektir.</a:t>
            </a:r>
            <a:endParaRPr lang="tr-TR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2566219" y="2690336"/>
            <a:ext cx="705956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 err="1">
                <a:solidFill>
                  <a:srgbClr val="525252"/>
                </a:solidFill>
                <a:latin typeface="Azeret Mono" panose="020B0604020202020204" charset="0"/>
                <a:ea typeface="Arimo"/>
                <a:cs typeface="Azeret Mono" panose="020B0604020202020204" charset="0"/>
                <a:sym typeface="Arimo"/>
              </a:rPr>
              <a:t>Dinlediğiniz</a:t>
            </a:r>
            <a:r>
              <a:rPr lang="en-US" sz="4800" b="0" i="0" u="none" strike="noStrike" cap="none" dirty="0">
                <a:solidFill>
                  <a:srgbClr val="525252"/>
                </a:solidFill>
                <a:latin typeface="Azeret Mono" panose="020B0604020202020204" charset="0"/>
                <a:ea typeface="Arimo"/>
                <a:cs typeface="Azeret Mono" panose="020B0604020202020204" charset="0"/>
                <a:sym typeface="Arimo"/>
              </a:rPr>
              <a:t> </a:t>
            </a:r>
            <a:r>
              <a:rPr lang="en-US" sz="4800" b="0" i="0" u="none" strike="noStrike" cap="none" dirty="0" err="1">
                <a:solidFill>
                  <a:srgbClr val="525252"/>
                </a:solidFill>
                <a:latin typeface="Azeret Mono" panose="020B0604020202020204" charset="0"/>
                <a:ea typeface="Arimo"/>
                <a:cs typeface="Azeret Mono" panose="020B0604020202020204" charset="0"/>
                <a:sym typeface="Arimo"/>
              </a:rPr>
              <a:t>için</a:t>
            </a:r>
            <a:r>
              <a:rPr lang="en-US" sz="4800" b="0" i="0" u="none" strike="noStrike" cap="none" dirty="0">
                <a:solidFill>
                  <a:srgbClr val="525252"/>
                </a:solidFill>
                <a:latin typeface="Azeret Mono" panose="020B0604020202020204" charset="0"/>
                <a:ea typeface="Arimo"/>
                <a:cs typeface="Azeret Mono" panose="020B0604020202020204" charset="0"/>
                <a:sym typeface="Arimo"/>
              </a:rPr>
              <a:t> </a:t>
            </a:r>
            <a:r>
              <a:rPr lang="tr-TR" sz="4800" dirty="0">
                <a:solidFill>
                  <a:srgbClr val="525252"/>
                </a:solidFill>
                <a:latin typeface="Azeret Mono" panose="020B0604020202020204" charset="0"/>
                <a:ea typeface="Arimo"/>
                <a:cs typeface="Azeret Mono" panose="020B0604020202020204" charset="0"/>
                <a:sym typeface="Arimo"/>
              </a:rPr>
              <a:t>Teşekkürler</a:t>
            </a:r>
            <a:r>
              <a:rPr lang="en-US" sz="4800" b="0" i="0" u="none" strike="noStrike" cap="none" dirty="0">
                <a:solidFill>
                  <a:srgbClr val="525252"/>
                </a:solidFill>
                <a:latin typeface="Azeret Mono" panose="020B0604020202020204" charset="0"/>
                <a:ea typeface="Arimo"/>
                <a:cs typeface="Azeret Mono" panose="020B0604020202020204" charset="0"/>
                <a:sym typeface="Arimo"/>
              </a:rPr>
              <a:t>.</a:t>
            </a:r>
            <a:endParaRPr sz="4800" dirty="0">
              <a:latin typeface="Azeret Mono" panose="020B0604020202020204" charset="0"/>
              <a:cs typeface="Azeret Mono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669</Words>
  <Application>Microsoft Office PowerPoint</Application>
  <PresentationFormat>Geniş ekran</PresentationFormat>
  <Paragraphs>39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Arial</vt:lpstr>
      <vt:lpstr>Calibri</vt:lpstr>
      <vt:lpstr>Arimo</vt:lpstr>
      <vt:lpstr>Azeret Mono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Abdulkadir Karabağ</cp:lastModifiedBy>
  <cp:revision>8</cp:revision>
  <dcterms:modified xsi:type="dcterms:W3CDTF">2025-11-18T06:17:25Z</dcterms:modified>
</cp:coreProperties>
</file>